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Jost"/>
      <p:regular r:id="rId201317"/>
    </p:embeddedFont>
    <p:embeddedFont>
      <p:font typeface="Jo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2445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77776"/>
            <a:ext cx="10972526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 shopping behavior,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translated into growth moves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609585" y="5550892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8578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CUSTOMER BASE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87354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3,900 purchases reveal a broad but highly repeat-driven customer base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164284"/>
            <a:ext cx="2844729" cy="2307927"/>
          </a:xfrm>
          <a:prstGeom prst="roundRect">
            <a:avLst>
              <a:gd name="adj" fmla="val 495"/>
            </a:avLst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453209"/>
            <a:ext cx="238754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3,900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38179" y="4205684"/>
            <a:ext cx="261613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179" y="4497090"/>
            <a:ext cx="238754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Across 25 products, 4 categories, 50 locations, and 18 columns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06611" y="3164284"/>
            <a:ext cx="3911601" cy="2307927"/>
          </a:xfrm>
          <a:prstGeom prst="roundRect">
            <a:avLst>
              <a:gd name="adj" fmla="val 495"/>
            </a:avLst>
          </a:prstGeom>
          <a:solidFill>
            <a:srgbClr val="241D38"/>
          </a:solidFill>
          <a:ln/>
        </p:spPr>
      </p:sp>
      <p:sp>
        <p:nvSpPr>
          <p:cNvPr id="9" name="Text 7"/>
          <p:cNvSpPr/>
          <p:nvPr/>
        </p:nvSpPr>
        <p:spPr>
          <a:xfrm>
            <a:off x="3835205" y="3453209"/>
            <a:ext cx="345441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$59.76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835205" y="4205684"/>
            <a:ext cx="36830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SPEND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35205" y="4497090"/>
            <a:ext cx="345441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Typical purchase, with a 3.75 average review rating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70509" y="3164284"/>
            <a:ext cx="3911601" cy="2307927"/>
          </a:xfrm>
          <a:prstGeom prst="roundRect">
            <a:avLst>
              <a:gd name="adj" fmla="val 495"/>
            </a:avLst>
          </a:prstGeom>
          <a:solidFill>
            <a:srgbClr val="241D38"/>
          </a:solidFill>
          <a:ln/>
        </p:spPr>
      </p:sp>
      <p:sp>
        <p:nvSpPr>
          <p:cNvPr id="13" name="Text 11"/>
          <p:cNvSpPr/>
          <p:nvPr/>
        </p:nvSpPr>
        <p:spPr>
          <a:xfrm>
            <a:off x="7899103" y="3453209"/>
            <a:ext cx="345441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37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899103" y="4205684"/>
            <a:ext cx="36830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MISSING RATINGS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99103" y="4497090"/>
            <a:ext cx="345441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ratings imputed by product-category median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REVENUE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1165"/>
            <a:ext cx="10972526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Revenue is concentrated in male customers, with young adults leading age groups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05861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by gender and age group points to two practical targeting anchors.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466207"/>
            <a:ext cx="10972526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4990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CUSTOMER SEGMENTS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51473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Loyal customers are the engine, but the newest buyers remain underdeveloped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857004"/>
            <a:ext cx="6349841" cy="29223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2713" y="2628404"/>
            <a:ext cx="4089397" cy="3379589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6" name="Text 3"/>
          <p:cNvSpPr/>
          <p:nvPr/>
        </p:nvSpPr>
        <p:spPr>
          <a:xfrm>
            <a:off x="7797506" y="3403600"/>
            <a:ext cx="37846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GROWTH PRIORITY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97506" y="3694371"/>
            <a:ext cx="347981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Prioritize retention economics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97506" y="4735016"/>
            <a:ext cx="34798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a stronger first-to-second-purchase journey.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2722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SUBSCRIPTIONS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428790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Subscriptions are not yet creating measurable spend lift</a:t>
            </a:r>
            <a:endParaRPr lang="en-US" sz="4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05720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70"/>
                <a:gridCol w="2633370"/>
                <a:gridCol w="2633370"/>
                <a:gridCol w="307241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Status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Customers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spend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Revenue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Yes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1,053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$59.49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$62,645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 No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2,847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$59.87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$170,436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4262636"/>
            <a:ext cx="2885408" cy="1468041"/>
          </a:xfrm>
          <a:prstGeom prst="rect">
            <a:avLst/>
          </a:prstGeom>
          <a:solidFill>
            <a:srgbClr val="241D38"/>
          </a:solidFill>
          <a:ln/>
        </p:spPr>
      </p:sp>
      <p:sp>
        <p:nvSpPr>
          <p:cNvPr id="6" name="Text 3"/>
          <p:cNvSpPr/>
          <p:nvPr/>
        </p:nvSpPr>
        <p:spPr>
          <a:xfrm>
            <a:off x="812780" y="4526161"/>
            <a:ext cx="247901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$0.38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12780" y="5278636"/>
            <a:ext cx="268221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Difference in average spend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50484" y="4747816"/>
            <a:ext cx="752843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near-identical average spend suggests the subscription value proposition needs sharper benefits.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DISCOUNT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1165"/>
            <a:ext cx="10972526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Discounts can drive high-value baskets, but some products may be over-dependent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162895"/>
            <a:ext cx="604504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839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3915370"/>
            <a:ext cx="60450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USED DISCOUNTS AND STILL SPENT ABOVE THE AVERAGE PURCHASE AMOUNT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585" y="4437856"/>
            <a:ext cx="1994842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606131"/>
            <a:ext cx="60450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targeted offers where discounts unlock incremental demand, not blanket markdowns.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327" y="3058616"/>
            <a:ext cx="4622784" cy="2089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0031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MERCHANDISING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201876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signals point to a clear merchandising shortlist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678807"/>
            <a:ext cx="5410065" cy="1359396"/>
          </a:xfrm>
          <a:prstGeom prst="roundRect">
            <a:avLst>
              <a:gd name="adj" fmla="val 841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829" y="2901057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TOP-RATED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1829" y="3181350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Gloves · 3.86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1829" y="3567112"/>
            <a:ext cx="51878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Sandals 3.84 · Boots 3.82 · Hat 3.80 · Skirt 3.78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046" y="2678807"/>
            <a:ext cx="5410065" cy="1359396"/>
          </a:xfrm>
          <a:prstGeom prst="roundRect">
            <a:avLst>
              <a:gd name="adj" fmla="val 841"/>
            </a:avLst>
          </a:prstGeom>
          <a:solidFill>
            <a:srgbClr val="4A3670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4290" y="2901057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TOP-SELLING BY CATEGORY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94290" y="3181350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Jewelry · Blouse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4290" y="3567112"/>
            <a:ext cx="51878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Jewelry leads Accessories; Blouse leads Clothing.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4190603"/>
            <a:ext cx="10972526" cy="1359396"/>
          </a:xfrm>
          <a:prstGeom prst="roundRect">
            <a:avLst>
              <a:gd name="adj" fmla="val 841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829" y="4412853"/>
            <a:ext cx="1075028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FOOTWEAR + OUTERWEAR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1829" y="4693146"/>
            <a:ext cx="105280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Sandals · Jacket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1829" y="5078909"/>
            <a:ext cx="107502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Sandals lead Footwear; Jacket leads Outerwear.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585" y="570874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Pair product visibility with the right job: ratings build confidence, while volume supports conversion.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98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SHIPPING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555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Shipping speed is a modest but useful value signal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83433"/>
            <a:ext cx="10972526" cy="2235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4777383"/>
            <a:ext cx="2885408" cy="1456630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5066308"/>
            <a:ext cx="242821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$2.02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38179" y="5818783"/>
            <a:ext cx="265681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EXPRESS GAP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25085" y="5256808"/>
            <a:ext cx="75792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gap is directional, not proof of causality. Test express-shipping messaging with higher-intent segments and larger baskets.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030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ANALYSIS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61866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analysis workflow is repeatable, not just descriptive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86447"/>
            <a:ext cx="539736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80" y="3397647"/>
            <a:ext cx="50417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Clean and standardize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87380" y="3741738"/>
            <a:ext cx="50417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Transaction data in Python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745" y="2419747"/>
            <a:ext cx="5397365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62541" y="3130947"/>
            <a:ext cx="50417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 features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362541" y="3475038"/>
            <a:ext cx="50417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Age groups and purchase-frequency features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612878"/>
            <a:ext cx="5397365" cy="142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7380" y="5324078"/>
            <a:ext cx="50417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Load for queries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87380" y="5668169"/>
            <a:ext cx="50417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Cleaned data into PostgreSQL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745" y="4346178"/>
            <a:ext cx="5397365" cy="142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62541" y="5057378"/>
            <a:ext cx="50417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Translate outputs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362541" y="5401469"/>
            <a:ext cx="50417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Interactive Power BI dashboard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09585" y="6253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That pipeline creates a practical loop from raw purchases to commercial action.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6825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GROWTH MOVES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69816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moves to improve growth efficiency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876227"/>
            <a:ext cx="5410065" cy="2030512"/>
          </a:xfrm>
          <a:prstGeom prst="roundRect">
            <a:avLst>
              <a:gd name="adj" fmla="val 563"/>
            </a:avLst>
          </a:prstGeom>
          <a:solidFill>
            <a:srgbClr val="4A3670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634" y="1895277"/>
            <a:ext cx="5371966" cy="5524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Shape 4"/>
          <p:cNvSpPr/>
          <p:nvPr/>
        </p:nvSpPr>
        <p:spPr>
          <a:xfrm>
            <a:off x="628634" y="2428677"/>
            <a:ext cx="5371966" cy="19050"/>
          </a:xfrm>
          <a:prstGeom prst="rect">
            <a:avLst/>
          </a:prstGeom>
          <a:solidFill>
            <a:srgbClr val="302944"/>
          </a:solidFill>
          <a:ln/>
        </p:spPr>
      </p:sp>
      <p:sp>
        <p:nvSpPr>
          <p:cNvPr id="7" name="Text 5"/>
          <p:cNvSpPr/>
          <p:nvPr/>
        </p:nvSpPr>
        <p:spPr>
          <a:xfrm>
            <a:off x="3258163" y="2028627"/>
            <a:ext cx="7224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2EDF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1829" y="2520752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1829" y="2801045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Make subscriptions earn attention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1829" y="3186807"/>
            <a:ext cx="51878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Test exclusive benefits, not just a badge.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046" y="1876227"/>
            <a:ext cx="5410065" cy="2030512"/>
          </a:xfrm>
          <a:prstGeom prst="roundRect">
            <a:avLst>
              <a:gd name="adj" fmla="val 56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1095" y="1895277"/>
            <a:ext cx="5371966" cy="5524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095" y="2428677"/>
            <a:ext cx="5371966" cy="19050"/>
          </a:xfrm>
          <a:prstGeom prst="rect">
            <a:avLst/>
          </a:prstGeom>
          <a:solidFill>
            <a:srgbClr val="302944"/>
          </a:solidFill>
          <a:ln/>
        </p:spPr>
      </p:sp>
      <p:sp>
        <p:nvSpPr>
          <p:cNvPr id="14" name="Text 12"/>
          <p:cNvSpPr/>
          <p:nvPr/>
        </p:nvSpPr>
        <p:spPr>
          <a:xfrm>
            <a:off x="8802765" y="2028627"/>
            <a:ext cx="7582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2EDF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94290" y="2520752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94290" y="2801045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the second purchase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4290" y="3186807"/>
            <a:ext cx="49655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loyalty rewards to move returning buyers into the loyal tier.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585" y="4059138"/>
            <a:ext cx="5410065" cy="2030512"/>
          </a:xfrm>
          <a:prstGeom prst="roundRect">
            <a:avLst>
              <a:gd name="adj" fmla="val 56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34" y="4078188"/>
            <a:ext cx="5371966" cy="5524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634" y="4611588"/>
            <a:ext cx="5371966" cy="19050"/>
          </a:xfrm>
          <a:prstGeom prst="rect">
            <a:avLst/>
          </a:prstGeom>
          <a:solidFill>
            <a:srgbClr val="302944"/>
          </a:solidFill>
          <a:ln/>
        </p:spPr>
      </p:sp>
      <p:sp>
        <p:nvSpPr>
          <p:cNvPr id="21" name="Text 19"/>
          <p:cNvSpPr/>
          <p:nvPr/>
        </p:nvSpPr>
        <p:spPr>
          <a:xfrm>
            <a:off x="3238022" y="4211538"/>
            <a:ext cx="7626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2EDF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31829" y="4703663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1829" y="4983956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Protect margin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1829" y="5369719"/>
            <a:ext cx="49655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discount dependence by product and customer value.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046" y="4059138"/>
            <a:ext cx="5410065" cy="2030512"/>
          </a:xfrm>
          <a:prstGeom prst="roundRect">
            <a:avLst>
              <a:gd name="adj" fmla="val 563"/>
            </a:avLst>
          </a:prstGeom>
          <a:solidFill>
            <a:srgbClr val="241D38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095" y="4078188"/>
            <a:ext cx="5371966" cy="5524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1095" y="4611588"/>
            <a:ext cx="5371966" cy="19050"/>
          </a:xfrm>
          <a:prstGeom prst="rect">
            <a:avLst/>
          </a:prstGeom>
          <a:solidFill>
            <a:srgbClr val="302944"/>
          </a:solidFill>
          <a:ln/>
        </p:spPr>
      </p:sp>
      <p:sp>
        <p:nvSpPr>
          <p:cNvPr id="28" name="Text 26"/>
          <p:cNvSpPr/>
          <p:nvPr/>
        </p:nvSpPr>
        <p:spPr>
          <a:xfrm>
            <a:off x="8796911" y="4211538"/>
            <a:ext cx="7699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2EDF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394290" y="4703663"/>
            <a:ext cx="51878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94290" y="4983956"/>
            <a:ext cx="49655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Sharpen targeting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94290" y="5369719"/>
            <a:ext cx="49655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Prioritize high-revenue age groups, proven products, and express-shipping intent.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7895" y="6466086"/>
            <a:ext cx="40118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shopping behavior, translated into growth moves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3628" y="6466086"/>
            <a:ext cx="3080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2026-10-18T16:18:25Z</dcterms:created>
  <dcterms:modified xsi:type="dcterms:W3CDTF">2026-10-18T16:18:25Z</dcterms:modified>
</cp:coreProperties>
</file>